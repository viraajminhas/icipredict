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The clinical question: can we predict immunotherapy (immune checkpoint inhibitor) response from a tumor's DNA? We build an integrated, cancer-type-aware survival model on 1,630 ICI-treated patients and rigorously test whether gene-level data adds anything beyond tumor mutational burden (TMB).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clinical problem and our question. TMB is approved but imperfect — high-TMB non-responders exist. We ask whether a multivariable, cancer-type-aware genomic model beats TMB alone on overall survival, using a large pan-cancer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and methods. Everything is pulled programmatically from cBioPortal for reproducibility. We restrict gene flags to the IMPACT341 core so a 0 truly means wild-type. Crucially, the elastic-net penalty is tuned inside each CV fold (nested CV) so the reported numbers carry no hyperparameter-selection optimism.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1. The integrated model lifts the C-index from 0.55 (TMB alone) to 0.64. But the decomposition is the honest story: clinical + cancer-type covariates already reach 0.62, TMB adds a bit, and genes add only a little more. We don't oversell the genomics.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2 is the honest test. We compare four model pairs with a paired bootstrap and Holm multiplicity correction. The big advantage over TMB alone is robust. The pure genomic increment over TMB+clinical is only ~+0.01, Coxnet-specific, and marginal — so we label it suggestive, not established.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3 — the novel insight. Rizvi 2015 saw high-TMB tumors that didn't respond but couldn't explain it by eye. We show why: resistance-gene mutations co-occur with high (favorable) TMB, so their harmful effect is masked by positive confounding. Hold cancer type fixed and add TMB to the model, and STK11/KEAP1 emerge as resistance markers (HR ~1.4-1.5). This is the mechanistic reason an integrated model can beat TMB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Interpretability. The elastic-net Cox coefficients are biologically sensible: STK11, KEAP1, SMARCA4, TP53 and glioma context push toward worse survival (resistance), while higher TMB, melanoma/renal context and VHL push toward benefit. The model recovers known immuno-oncology biology rather than memorizing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Synthesis. The project isn't a one-off model — it operationalizes the group's five annotated sources into a single tested hypothesis, reproducing TMB's signal, explaining Rizvi's non-responders, and recovering Jamieson &amp; Maker's resistance genes.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and next steps. We're explicit about what the data can't show: targeted panel, OS-only, single center, no control arm, and a small genomic increment. Next: external WES validation, richer features (PD-L1, RNA, neoantigens), fold-local + functional gene annotation, and per-cancer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Takeaways. Three honest claims: (1) integration beats TMB alone, mostly via clinical/cancer-type context; (2) the pure genomic increment is small and we don't oversell it; (3) the real conceptual contribution is showing TMB masks resistance genes, which explains the high-TMB non-responders. Everything reproduces from one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8000"/>
          </a:blip>
          <a:stretch>
            <a:fillRect/>
          </a:stretch>
        </p:blipFill>
        <p:spPr>
          <a:xfrm>
            <a:off x="8869680" y="548640"/>
            <a:ext cx="3108960" cy="5760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GENOMICS × IMMUNO-ONCOLOGY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645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whether a tumor will</a:t>
            </a:r>
            <a:endParaRPr lang="en-US" sz="4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 to immunotherapy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interpretable, cancer-type-aware survival model that integrates tumor mutational burden with gene-level mutations — and a test of whether genes add value beyond TMB.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489204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B3138"/>
          </a:solidFill>
          <a:ln w="12700">
            <a:solidFill>
              <a:srgbClr val="2645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9834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53583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ICI-treated patients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4892040"/>
            <a:ext cx="1984248" cy="868680"/>
          </a:xfrm>
          <a:prstGeom prst="roundRect">
            <a:avLst>
              <a:gd name="adj" fmla="val 8421"/>
            </a:avLst>
          </a:prstGeom>
          <a:solidFill>
            <a:srgbClr val="1B3138"/>
          </a:solidFill>
          <a:ln w="12700">
            <a:solidFill>
              <a:srgbClr val="2645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498348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474720" y="535838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04688" y="4892040"/>
            <a:ext cx="1984248" cy="868680"/>
          </a:xfrm>
          <a:prstGeom prst="roundRect">
            <a:avLst>
              <a:gd name="adj" fmla="val 8421"/>
            </a:avLst>
          </a:prstGeom>
          <a:solidFill>
            <a:srgbClr val="1B3138"/>
          </a:solidFill>
          <a:ln w="12700">
            <a:solidFill>
              <a:srgbClr val="2645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498348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687568" y="5358384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features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17536" y="4892040"/>
            <a:ext cx="3300984" cy="868680"/>
          </a:xfrm>
          <a:prstGeom prst="roundRect">
            <a:avLst>
              <a:gd name="adj" fmla="val 8421"/>
            </a:avLst>
          </a:prstGeom>
          <a:solidFill>
            <a:srgbClr val="1B3138"/>
          </a:solidFill>
          <a:ln w="12700">
            <a:solidFill>
              <a:srgbClr val="2645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0416" y="4983480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 → 0.64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900416" y="535838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C-index: TMB → integrated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Samstein et al., Nature Genetics 2019 · pulled live from the cBioPortal REST API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TMB is the FDA biomarker — but it is far from enough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inhibitors (anti–PD-1 / CTLA-4) transform outcomes — but only for some patients.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mutational burden (TMB ≥ 10 mut/Mb) is the FDA's tissue-agnostic biomarker, yet many high-TMB tumors still fail to respond (Rizvi 2015).</a:t>
            </a:r>
            <a:endParaRPr lang="en-US" sz="1450" dirty="0"/>
          </a:p>
          <a:p>
            <a:pPr marL="342900" indent="-3429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points to a multi-signal, cancer-type-specific answer: TMB + neoantigens + resistance genes (B2M, JAK1/2) + cancer context.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6126480" cy="2057400"/>
          </a:xfrm>
          <a:prstGeom prst="roundRect">
            <a:avLst>
              <a:gd name="adj" fmla="val 4444"/>
            </a:avLst>
          </a:prstGeom>
          <a:solidFill>
            <a:srgbClr val="EEF4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4681728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integrating TMB with specific gene mutations and cancer-type context predict overall survival after immunotherapy </a:t>
            </a:r>
            <a:pPr indent="0" marL="0">
              <a:lnSpc>
                <a:spcPct val="105000"/>
              </a:lnSpc>
              <a:buNone/>
            </a:pPr>
            <a:r>
              <a:rPr lang="en-US" sz="1550" b="1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than TMB alone</a:t>
            </a:r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can gene context explain the high-TMB non-responders?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86600" y="1600200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1984248"/>
            <a:ext cx="658368" cy="658368"/>
          </a:xfrm>
          <a:prstGeom prst="ellipse">
            <a:avLst/>
          </a:prstGeom>
          <a:solidFill>
            <a:srgbClr val="EEF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11226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1,630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8229600" y="23500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treated with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checkpoint inhibitors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086600" y="3172968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60920" y="3557016"/>
            <a:ext cx="658368" cy="658368"/>
          </a:xfrm>
          <a:prstGeom prst="ellipse">
            <a:avLst/>
          </a:prstGeom>
          <a:solidFill>
            <a:srgbClr val="EEF4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3685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3558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8229600" y="39227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types — pan-cancer,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tissue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86600" y="4745736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60920" y="5129784"/>
            <a:ext cx="658368" cy="658368"/>
          </a:xfrm>
          <a:prstGeom prst="ellipse">
            <a:avLst/>
          </a:prstGeom>
          <a:solidFill>
            <a:srgbClr val="EEF4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525780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4928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810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8229600" y="54955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(49.7%) — mature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overall-survival follow-up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APPROACH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reproducible, leakage-controlled survival pipeline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3492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Samstein 2019 (MSK-IMPACT), pulled live from the cBioPortal REST API; OS endpoint.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log-TMB, age, sex, biopsy site, ICI drug class, cancer type, + 69 gene-mutation flags restricted to the IMPACT341 core (a 0 = wild-type, never “unsequenced”).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(FDA cutoff, Samstein type-specific rule, Cox on TMB) vs integrated models (elastic-net Cox, random survival forest).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30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stratified 5-fold CV; the elastic-net penalty is tuned inside each fold (nested CV); Harrell C, IPCW-C, time-AUC; paired bootstrap with Holm correction.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63640" y="15544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1" descr="C:\Projects\ICIpredict\deck\figs\fig1_tmb_by_cancer_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12762"/>
            <a:ext cx="5166360" cy="2569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0" y="528523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spans orders of magnitude across cancer types — a single global cutoff misfits most. This is why cancer-type context matters.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DISCRIMINATION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model beats TMB — but context, not genes, drives the gain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8580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C:\Projects\ICIpredict\deck\figs\fig2_cindex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39850"/>
            <a:ext cx="6583680" cy="38012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C-index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89520" y="18745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C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pPr indent="0" marL="0">
              <a:buNone/>
            </a:pPr>
            <a:r>
              <a:rPr lang="en-US" sz="46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4600" dirty="0"/>
          </a:p>
        </p:txBody>
      </p:sp>
      <p:sp>
        <p:nvSpPr>
          <p:cNvPr id="9" name="Text 5"/>
          <p:cNvSpPr/>
          <p:nvPr/>
        </p:nvSpPr>
        <p:spPr>
          <a:xfrm>
            <a:off x="763524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alone  →  integrated model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589520" y="329184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EF4F5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0" y="32918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alone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C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589520" y="3950208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EF4F5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0" y="39502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clinical &amp; cancer type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515600" y="39502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589520" y="4608576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EF4F5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0" y="46085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TMB on top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515600" y="460857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7589520" y="5266944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EEF4F5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0" y="52669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genes (full model)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515600" y="526694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589520" y="59710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lift over TMB is clinical + cancer-type context — an honest decomposition, not a black box.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THE HONEST TEST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genes add value beyond TMB + clinical? Barely — and we say so.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6858000" cy="22860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1417320"/>
                <a:gridCol w="82296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 (ΔC)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Holm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 vs  TMB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[+0.08, +0.12]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 vs  TMB + clinical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[−0.003, +0.017]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 vs  TMB + clinical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[−0.005, +0.015]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C6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41148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 over TMB alone is real and robust. But the pure genomic increment over TMB + clinical is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(ΔC ≈ +0.008), its CI crosses zero, and it is not significant after multiplicity correction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paired per-fold test detects a consistent but negligible +0.006).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40080" y="5166360"/>
            <a:ext cx="6858000" cy="1005840"/>
          </a:xfrm>
          <a:prstGeom prst="roundRect">
            <a:avLst>
              <a:gd name="adj" fmla="val 8182"/>
            </a:avLst>
          </a:prstGeom>
          <a:solidFill>
            <a:srgbClr val="EEF4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13248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08760" y="5257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cohort, gene flags add no robust gain beyond TMB + clinical + cancer type. Reporting that honestly — instead of overclaiming — is the scientifically correct call.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7726680" y="1645920"/>
            <a:ext cx="3977640" cy="452628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C:\Projects\ICIpredict\deck\figs\fig3_auc_over_t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769550"/>
            <a:ext cx="3794760" cy="24161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18120" y="1783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AUC: integrated models lead at every horizon.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THE INTEGRATION INSIGHT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high-TMB non-responders evade the eye: TMB masks resistance genes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73609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C:\Projects\ICIpredict\deck\figs\fig7_resistance_tmb_confou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60087"/>
            <a:ext cx="7178040" cy="29516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4672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 mutations hide inside high TMB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046720" y="224028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STK11/KEAP1/B2M mutations occur preferentially in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high-TMB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tumors (9.8 vs 5.2 mut/Mb, p≈10⁻²⁸). Because high TMB is favorable, their harm is </a:t>
            </a:r>
            <a:pPr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046720" y="3611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   </a:t>
            </a:r>
            <a:pPr indent="0" marL="0">
              <a:buNone/>
            </a:pPr>
            <a:r>
              <a:rPr lang="en-US" sz="11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→ with TMB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046720" y="3931920"/>
            <a:ext cx="3794760" cy="54864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/>
        </p:spPr>
      </p:sp>
      <p:sp>
        <p:nvSpPr>
          <p:cNvPr id="11" name="Text 7"/>
          <p:cNvSpPr/>
          <p:nvPr/>
        </p:nvSpPr>
        <p:spPr>
          <a:xfrm>
            <a:off x="818388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(NSCLC)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784080" y="3931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1.31  </a:t>
            </a:r>
            <a:pPr algn="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1.42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201400" y="393192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p=0.041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046720" y="4572000"/>
            <a:ext cx="3794760" cy="54864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/>
        </p:spPr>
      </p:sp>
      <p:sp>
        <p:nvSpPr>
          <p:cNvPr id="15" name="Text 11"/>
          <p:cNvSpPr/>
          <p:nvPr/>
        </p:nvSpPr>
        <p:spPr>
          <a:xfrm>
            <a:off x="818388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KEAP1 (NSCLC)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784080" y="45720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  </a:t>
            </a:r>
            <a:pPr algn="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1.54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201400" y="457200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p=0.014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46720" y="5212080"/>
            <a:ext cx="3794760" cy="54864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/>
        </p:spPr>
      </p:sp>
      <p:sp>
        <p:nvSpPr>
          <p:cNvPr id="19" name="Text 15"/>
          <p:cNvSpPr/>
          <p:nvPr/>
        </p:nvSpPr>
        <p:spPr>
          <a:xfrm>
            <a:off x="8183880" y="5212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(pan-cancer*)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784080" y="5212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1.34  </a:t>
            </a:r>
            <a:pPr algn="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1.50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1201400" y="52120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p=0.006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8046720" y="58704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cancer type fixed and adding TMB unmasks STK11/KEAP1 as resistance markers — the mechanism behind “TMB necessary but not sufficient.”   *type-adjusted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learned — and it lines up with the biology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4008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C:\Projects\ICIpredict\deck\figs\fig4_coxnet_hazard_rati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9" y="1627632"/>
            <a:ext cx="5593718" cy="4434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78040" y="1572768"/>
            <a:ext cx="4526280" cy="2194560"/>
          </a:xfrm>
          <a:prstGeom prst="roundRect">
            <a:avLst>
              <a:gd name="adj" fmla="val 4167"/>
            </a:avLst>
          </a:prstGeom>
          <a:solidFill>
            <a:srgbClr val="FBEDE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01000" y="18013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Worse survival (resistance)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7452360" y="23774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 · KEAP1 · SMARCA4 · TP53 · glioma context — known cold-tumor / ICI-resistance biology.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178040" y="3950208"/>
            <a:ext cx="4526280" cy="2194560"/>
          </a:xfrm>
          <a:prstGeom prst="roundRect">
            <a:avLst>
              <a:gd name="adj" fmla="val 4167"/>
            </a:avLst>
          </a:prstGeom>
          <a:solidFill>
            <a:srgbClr val="E5F2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420624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01000" y="4178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survival (benefit)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452360" y="475488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TMB · melanoma &amp; renal-cell context · VHL — the most ICI-responsive settings in the clinic.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 that ties the group's five sources together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48840"/>
            <a:ext cx="868680" cy="868680"/>
          </a:xfrm>
          <a:prstGeom prst="ellipse">
            <a:avLst/>
          </a:prstGeom>
          <a:solidFill>
            <a:srgbClr val="EEF4F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35915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2004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 &amp; Samstein — TMB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32688" y="393192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 TMB's signal and show the FDA cutoff and Samstein's type-specific rule both under-perform a cancer-type-aware multivariable model.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8912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2148840"/>
            <a:ext cx="868680" cy="868680"/>
          </a:xfrm>
          <a:prstGeom prst="ellipse">
            <a:avLst/>
          </a:prstGeom>
          <a:solidFill>
            <a:srgbClr val="EEF4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35915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81728" y="32004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Rizvi — mutational landscape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681728" y="393192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POLE/MMR track benefit; and we give a concrete reason high-TMB non-responders evade the eye — masking by TMB and cancer type.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3816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5E0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458200" y="2148840"/>
            <a:ext cx="868680" cy="868680"/>
          </a:xfrm>
          <a:prstGeom prst="ellipse">
            <a:avLst/>
          </a:prstGeom>
          <a:solidFill>
            <a:srgbClr val="EEF4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23591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30768" y="32004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Jamieson &amp; Maker — resistance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430768" y="393192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STK11/KEAP1 carry the expected resistance direction once TMB and type are modeled — consistent with acquired-resistance biology.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" y="41148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&amp; NEXT STEPS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24128" y="6217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show — and where it goes next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BEDE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panel, not whole-exome; no PD-L1, RNA / IFN-γ signature, or neoantigen calling.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flag = any non-silent variant present — not demonstrated functional loss.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single institution (MSK), retrospective, no ICI-vs-control arm — can't separate predictive from prognostic.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increment is small and Coxnet-specific: suggestive, not established.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E5F2F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independent ICI whole-exome cohorts (Hugo, Van Allen, Liu).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PD-L1, IFN-γ expression signature, and neoantigen burden as features.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fold-local gene selection + functional (loss-of-function) annotation.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Per-cancer-type models where sample size allows (NSCLC, melanoma, bladder).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ICIpredict</a:t>
            </a:r>
            <a:pPr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Samstein et al. 2019  (cBioPortal tmb_mskcc_2018, n = 1,630)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2000"/>
          </a:blip>
          <a:stretch>
            <a:fillRect/>
          </a:stretch>
        </p:blipFill>
        <p:spPr>
          <a:xfrm>
            <a:off x="9144000" y="3931920"/>
            <a:ext cx="2834640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143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— and cannot — claim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2194560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1945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45920" y="213055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beats TMB alone.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 0.55 → 0.64 — but most of that gain is clinical + cancer-type context, honestly decomposed.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3401568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4015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645920" y="333756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flags add almost nothing — and we say so.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increment over TMB + clinical is ~+0.008, CI crosses zero, not significant after multiplicity correction. We don't overclaim.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4608576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46085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645920" y="4544568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TMB masks resistance genes.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F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STK11/KEAP1 only reveal their harm once TMB and cancer type are modeled jointly — explaining high-TMB non-responders.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data, and figures are fully reproducible: python main.py  →  results/report.md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immunotherapy response from genomic data</dc:title>
  <dc:subject>PptxGenJS Presentation</dc:subject>
  <dc:creator>ICIpredict</dc:creator>
  <cp:lastModifiedBy>ICIpredict</cp:lastModifiedBy>
  <cp:revision>1</cp:revision>
  <dcterms:created xsi:type="dcterms:W3CDTF">2026-07-01T15:00:10Z</dcterms:created>
  <dcterms:modified xsi:type="dcterms:W3CDTF">2026-07-01T15:00:10Z</dcterms:modified>
</cp:coreProperties>
</file>